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scASDC: Attention Enhanced Structural Deep Clustering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>
                <a:solidFill>
                  <a:srgbClr val="0070C0"/>
                </a:solidFill>
              </a:defRPr>
            </a:pPr>
            <a:r>
              <a:t>Single-cell RNA-seq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400"/>
            </a:pPr>
            <a:r>
              <a:t>Wenwen Min, Zhen Wang, Fangfang Zhu, Taosheng Xu, Shunfang Wang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200" i="1"/>
            </a:pPr>
            <a:r>
              <a:t>IEEE International Conference on Bioinformatics and Biomedicine (BIBM)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 of scASDC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b="1" sz="2000"/>
            </a:pPr>
            <a:r>
              <a:t>Four Core Modules:</a:t>
            </a:r>
          </a:p>
          <a:p>
            <a:pPr>
              <a:spcAft>
                <a:spcPts val="300"/>
              </a:spcAft>
              <a:defRPr sz="1600"/>
            </a:pPr>
            <a:r>
              <a:t>1. ZINB-based Autoencoder Module</a:t>
            </a:r>
          </a:p>
          <a:p>
            <a:pPr lvl="1">
              <a:spcAft>
                <a:spcPts val="300"/>
              </a:spcAft>
              <a:defRPr sz="1400"/>
            </a:pPr>
            <a:r>
              <a:t>   • Learns latent representations of gene expression</a:t>
            </a:r>
          </a:p>
          <a:p>
            <a:pPr lvl="1">
              <a:spcAft>
                <a:spcPts val="300"/>
              </a:spcAft>
              <a:defRPr sz="1400"/>
            </a:pPr>
            <a:r>
              <a:t>   • Models zero-inflation and overdispersion</a:t>
            </a:r>
          </a:p>
          <a:p>
            <a:pPr lvl="1">
              <a:spcAft>
                <a:spcPts val="300"/>
              </a:spcAft>
              <a:defRPr sz="1400"/>
            </a:pPr>
          </a:p>
          <a:p>
            <a:pPr>
              <a:spcAft>
                <a:spcPts val="300"/>
              </a:spcAft>
              <a:defRPr sz="1600"/>
            </a:pPr>
            <a:r>
              <a:t>2. Graph Autoencoder Module (GCN)</a:t>
            </a:r>
          </a:p>
          <a:p>
            <a:pPr lvl="1">
              <a:spcAft>
                <a:spcPts val="300"/>
              </a:spcAft>
              <a:defRPr sz="1400"/>
            </a:pPr>
            <a:r>
              <a:t>   • Captures high-order structural relationships</a:t>
            </a:r>
          </a:p>
          <a:p>
            <a:pPr lvl="1">
              <a:spcAft>
                <a:spcPts val="300"/>
              </a:spcAft>
              <a:defRPr sz="1400"/>
            </a:pPr>
            <a:r>
              <a:t>   • Extracts cell-cell interaction patterns</a:t>
            </a:r>
          </a:p>
          <a:p>
            <a:pPr lvl="1">
              <a:spcAft>
                <a:spcPts val="300"/>
              </a:spcAft>
              <a:defRPr sz="1400"/>
            </a:pPr>
          </a:p>
          <a:p>
            <a:pPr>
              <a:spcAft>
                <a:spcPts val="300"/>
              </a:spcAft>
              <a:defRPr sz="1600"/>
            </a:pPr>
            <a:r>
              <a:t>3. Attention Fusion Module</a:t>
            </a:r>
          </a:p>
          <a:p>
            <a:pPr lvl="1">
              <a:spcAft>
                <a:spcPts val="300"/>
              </a:spcAft>
              <a:defRPr sz="1400"/>
            </a:pPr>
            <a:r>
              <a:t>   • Multi-head attention (8 heads)</a:t>
            </a:r>
          </a:p>
          <a:p>
            <a:pPr lvl="1">
              <a:spcAft>
                <a:spcPts val="300"/>
              </a:spcAft>
              <a:defRPr sz="1400"/>
            </a:pPr>
            <a:r>
              <a:t>   • Layer-by-layer integration of content + structure</a:t>
            </a:r>
          </a:p>
          <a:p>
            <a:pPr lvl="1">
              <a:spcAft>
                <a:spcPts val="300"/>
              </a:spcAft>
              <a:defRPr sz="1400"/>
            </a:pPr>
          </a:p>
          <a:p>
            <a:pPr>
              <a:spcAft>
                <a:spcPts val="300"/>
              </a:spcAft>
              <a:defRPr sz="1600"/>
            </a:pPr>
            <a:r>
              <a:t>4. Self-Supervised Learning Module</a:t>
            </a:r>
          </a:p>
          <a:p>
            <a:pPr lvl="1">
              <a:spcAft>
                <a:spcPts val="300"/>
              </a:spcAft>
              <a:defRPr sz="1400"/>
            </a:pPr>
            <a:r>
              <a:t>   • End-to-end clustering training</a:t>
            </a:r>
          </a:p>
          <a:p>
            <a:pPr lvl="1">
              <a:spcAft>
                <a:spcPts val="300"/>
              </a:spcAft>
              <a:defRPr sz="1400"/>
            </a:pPr>
            <a:r>
              <a:t>   • Dual KL divergence losses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1: ZINB-based Autoencoder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800">
                <a:solidFill>
                  <a:srgbClr val="0070C0"/>
                </a:solidFill>
              </a:defRPr>
            </a:pPr>
            <a:r>
              <a:t>Objective:</a:t>
            </a:r>
          </a:p>
          <a:p>
            <a:pPr>
              <a:spcAft>
                <a:spcPts val="1000"/>
              </a:spcAft>
              <a:defRPr sz="1400"/>
            </a:pPr>
            <a:r>
              <a:t>Learn low-dimensional representations capturing gene expression patterns</a:t>
            </a:r>
          </a:p>
          <a:p>
            <a:pPr>
              <a:defRPr b="1" sz="1800">
                <a:solidFill>
                  <a:srgbClr val="0070C0"/>
                </a:solidFill>
              </a:defRPr>
            </a:pPr>
            <a:r>
              <a:t>Mathematical Formulation:</a:t>
            </a: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Encoder: H_l = ReLU(W_l × H_(l-1) + b_l)</a:t>
            </a:r>
          </a:p>
          <a:p>
            <a:pPr>
              <a:spcAft>
                <a:spcPts val="200"/>
              </a:spcAft>
              <a:defRPr sz="1400">
                <a:latin typeface="Calibri"/>
              </a:defRPr>
            </a:pPr>
          </a:p>
          <a:p>
            <a:pPr>
              <a:spcAft>
                <a:spcPts val="200"/>
              </a:spcAft>
              <a:defRPr sz="1400">
                <a:latin typeface="Calibri"/>
              </a:defRPr>
            </a:pPr>
            <a:r>
              <a:t>ZINB Parameters:</a:t>
            </a: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  • Dropout: Π = sigmoid(W_π × H_L)</a:t>
            </a: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  • Mean: M_i = diag(S_i) × exp(W_μ × H_L)</a:t>
            </a: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  • Dispersion: Θ = exp(W_θ × H_L)</a:t>
            </a:r>
          </a:p>
          <a:p>
            <a:pPr>
              <a:spcAft>
                <a:spcPts val="200"/>
              </a:spcAft>
              <a:defRPr sz="1400">
                <a:latin typeface="Calibri"/>
              </a:defRPr>
            </a:pP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Architecture: 2000 → 1000 → 1000 → 4000 → 10 nodes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2: Graph Autoencoder (GCN)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800">
                <a:solidFill>
                  <a:srgbClr val="0070C0"/>
                </a:solidFill>
              </a:defRPr>
            </a:pPr>
            <a:r>
              <a:t>Objective:</a:t>
            </a:r>
          </a:p>
          <a:p>
            <a:pPr>
              <a:spcAft>
                <a:spcPts val="1000"/>
              </a:spcAft>
              <a:defRPr sz="1400"/>
            </a:pPr>
            <a:r>
              <a:t>Capture high-order structural relationships between cells</a:t>
            </a:r>
          </a:p>
          <a:p>
            <a:pPr>
              <a:defRPr b="1" sz="1800">
                <a:solidFill>
                  <a:srgbClr val="0070C0"/>
                </a:solidFill>
              </a:defRPr>
            </a:pPr>
            <a:r>
              <a:t>Graph Convolutional Network Layer:</a:t>
            </a:r>
          </a:p>
          <a:p>
            <a:pPr>
              <a:spcAft>
                <a:spcPts val="1000"/>
              </a:spcAft>
              <a:defRPr sz="1400">
                <a:latin typeface="Courier New"/>
              </a:defRPr>
            </a:pPr>
            <a:r>
              <a:t>Z_l = ReLU(D̂^(-1/2) × (A+I) × D̂^(-1/2) × R_(l-1) × U_(l-1))</a:t>
            </a:r>
          </a:p>
          <a:p>
            <a:pPr>
              <a:defRPr b="1" sz="1600"/>
            </a:pPr>
            <a:r>
              <a:t>Key Features:</a:t>
            </a:r>
          </a:p>
          <a:p>
            <a:pPr>
              <a:spcAft>
                <a:spcPts val="300"/>
              </a:spcAft>
              <a:defRPr sz="1400"/>
            </a:pPr>
            <a:r>
              <a:t>• A = KNN adjacency matrix (k=10)</a:t>
            </a:r>
          </a:p>
          <a:p>
            <a:pPr>
              <a:spcAft>
                <a:spcPts val="300"/>
              </a:spcAft>
              <a:defRPr sz="1400"/>
            </a:pPr>
            <a:r>
              <a:t>• I = identity matrix</a:t>
            </a:r>
          </a:p>
          <a:p>
            <a:pPr>
              <a:spcAft>
                <a:spcPts val="300"/>
              </a:spcAft>
              <a:defRPr sz="1400"/>
            </a:pPr>
            <a:r>
              <a:t>• D̂ = degree matrix</a:t>
            </a:r>
          </a:p>
          <a:p>
            <a:pPr>
              <a:spcAft>
                <a:spcPts val="300"/>
              </a:spcAft>
              <a:defRPr sz="1400"/>
            </a:pPr>
            <a:r>
              <a:t>• R_(l-1) = fused representation (attention output)</a:t>
            </a:r>
          </a:p>
          <a:p>
            <a:pPr>
              <a:spcAft>
                <a:spcPts val="300"/>
              </a:spcAft>
              <a:defRPr sz="1400"/>
            </a:pPr>
            <a:r>
              <a:t>• Mitigates oversmoothing problem in deep GCNs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3: Attention Fusion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800">
                <a:solidFill>
                  <a:srgbClr val="0070C0"/>
                </a:solidFill>
              </a:defRPr>
            </a:pPr>
            <a:r>
              <a:t>Objective:</a:t>
            </a:r>
          </a:p>
          <a:p>
            <a:pPr>
              <a:spcAft>
                <a:spcPts val="1000"/>
              </a:spcAft>
              <a:defRPr sz="1400"/>
            </a:pPr>
            <a:r>
              <a:t>Intelligently integrate gene expression + structural information</a:t>
            </a:r>
          </a:p>
          <a:p>
            <a:pPr>
              <a:defRPr b="1" sz="1800">
                <a:solidFill>
                  <a:srgbClr val="0070C0"/>
                </a:solidFill>
              </a:defRPr>
            </a:pPr>
            <a:r>
              <a:t>Multi-Head Attention (8 heads):</a:t>
            </a:r>
          </a:p>
          <a:p>
            <a:pPr>
              <a:spcAft>
                <a:spcPts val="200"/>
              </a:spcAft>
              <a:defRPr sz="1400">
                <a:latin typeface="Calibri"/>
              </a:defRPr>
            </a:pPr>
            <a:r>
              <a:t>Step 1: Weighted combination</a:t>
            </a:r>
          </a:p>
          <a:p>
            <a:pPr lvl="1">
              <a:spcAft>
                <a:spcPts val="200"/>
              </a:spcAft>
              <a:defRPr sz="1300">
                <a:latin typeface="Courier New"/>
              </a:defRPr>
            </a:pPr>
            <a:r>
              <a:t>  Y_(l-1) = α × H_(l-1) + (1-α) × Z_(l-1)</a:t>
            </a:r>
          </a:p>
          <a:p>
            <a:pPr lvl="1">
              <a:spcAft>
                <a:spcPts val="200"/>
              </a:spcAft>
              <a:defRPr sz="1300">
                <a:latin typeface="Calibri"/>
              </a:defRPr>
            </a:pPr>
            <a:r>
              <a:t>  where α = 0.5 (balance parameter)</a:t>
            </a:r>
          </a:p>
          <a:p>
            <a:pPr lvl="1">
              <a:spcAft>
                <a:spcPts val="200"/>
              </a:spcAft>
              <a:defRPr sz="1300">
                <a:latin typeface="Calibri"/>
              </a:defRPr>
            </a:pPr>
          </a:p>
          <a:p>
            <a:pPr>
              <a:spcAft>
                <a:spcPts val="200"/>
              </a:spcAft>
              <a:defRPr sz="1400">
                <a:latin typeface="Calibri"/>
              </a:defRPr>
            </a:pPr>
            <a:r>
              <a:t>Step 2: Multi-head attention</a:t>
            </a:r>
          </a:p>
          <a:p>
            <a:pPr lvl="1">
              <a:spcAft>
                <a:spcPts val="200"/>
              </a:spcAft>
              <a:defRPr sz="1300">
                <a:latin typeface="Courier New"/>
              </a:defRPr>
            </a:pPr>
            <a:r>
              <a:t>  head_i = softmax(Q × K^T / √d_k) × V</a:t>
            </a:r>
          </a:p>
          <a:p>
            <a:pPr lvl="1">
              <a:spcAft>
                <a:spcPts val="200"/>
              </a:spcAft>
              <a:defRPr sz="1300">
                <a:latin typeface="Courier New"/>
              </a:defRPr>
            </a:pPr>
            <a:r>
              <a:t>  R_l = W × Concat(head_1, ..., head_8)</a:t>
            </a:r>
          </a:p>
          <a:p>
            <a:pPr lvl="1">
              <a:spcAft>
                <a:spcPts val="200"/>
              </a:spcAft>
              <a:defRPr sz="1300">
                <a:latin typeface="Calibri"/>
              </a:defRPr>
            </a:pPr>
          </a:p>
          <a:p>
            <a:pPr>
              <a:spcAft>
                <a:spcPts val="200"/>
              </a:spcAft>
              <a:defRPr sz="1400">
                <a:latin typeface="Calibri"/>
              </a:defRPr>
            </a:pPr>
            <a:r>
              <a:t>Benefits:</a:t>
            </a:r>
          </a:p>
          <a:p>
            <a:pPr lvl="1">
              <a:spcAft>
                <a:spcPts val="200"/>
              </a:spcAft>
              <a:defRPr sz="1300">
                <a:latin typeface="Calibri"/>
              </a:defRPr>
            </a:pPr>
            <a:r>
              <a:t>  • Adaptive feature weighting</a:t>
            </a:r>
          </a:p>
          <a:p>
            <a:pPr lvl="1">
              <a:spcAft>
                <a:spcPts val="200"/>
              </a:spcAft>
              <a:defRPr sz="1300">
                <a:latin typeface="Calibri"/>
              </a:defRPr>
            </a:pPr>
            <a:r>
              <a:t>  • Layer-by-layer fusion prevents information loss</a:t>
            </a:r>
          </a:p>
          <a:p>
            <a:pPr lvl="1">
              <a:spcAft>
                <a:spcPts val="200"/>
              </a:spcAft>
              <a:defRPr sz="1300">
                <a:latin typeface="Calibri"/>
              </a:defRPr>
            </a:pPr>
            <a:r>
              <a:t>  • Combines complementary information sources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4: Self-Supervised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800">
                <a:solidFill>
                  <a:srgbClr val="0070C0"/>
                </a:solidFill>
              </a:defRPr>
            </a:pPr>
            <a:r>
              <a:t>Objective:</a:t>
            </a:r>
          </a:p>
          <a:p>
            <a:pPr>
              <a:spcAft>
                <a:spcPts val="1000"/>
              </a:spcAft>
              <a:defRPr sz="1400"/>
            </a:pPr>
            <a:r>
              <a:t>Enable end-to-end clustering through soft assignments</a:t>
            </a:r>
          </a:p>
          <a:p>
            <a:pPr>
              <a:defRPr b="1" sz="1600">
                <a:solidFill>
                  <a:srgbClr val="0070C0"/>
                </a:solidFill>
              </a:defRPr>
            </a:pPr>
            <a:r>
              <a:t>Soft Assignment (Student's t-distribution):</a:t>
            </a:r>
          </a:p>
          <a:p>
            <a:pPr>
              <a:spcAft>
                <a:spcPts val="800"/>
              </a:spcAft>
              <a:defRPr sz="1300">
                <a:latin typeface="Courier New"/>
              </a:defRPr>
            </a:pPr>
            <a:r>
              <a:t>q_ij = [1 + ||h_i - μ_j||²/λ]^(-(λ+1)/2) / Σ_j' [...]</a:t>
            </a:r>
          </a:p>
          <a:p>
            <a:pPr>
              <a:defRPr b="1" sz="1600">
                <a:solidFill>
                  <a:srgbClr val="0070C0"/>
                </a:solidFill>
              </a:defRPr>
            </a:pPr>
            <a:r>
              <a:t>Target Distribution (high-confidence):</a:t>
            </a:r>
          </a:p>
          <a:p>
            <a:pPr>
              <a:spcAft>
                <a:spcPts val="800"/>
              </a:spcAft>
              <a:defRPr sz="1300">
                <a:latin typeface="Courier New"/>
              </a:defRPr>
            </a:pPr>
            <a:r>
              <a:t>p_ij = (q_ij² / g_j) / Σ_j' (q_ij'² / g_j')</a:t>
            </a:r>
          </a:p>
          <a:p>
            <a:pPr>
              <a:defRPr sz="1200" i="1"/>
            </a:pPr>
            <a:r>
              <a:t>where g_j = Σ_i q_ij (soft cluster frequency)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Five Loss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800">
                <a:solidFill>
                  <a:srgbClr val="0070C0"/>
                </a:solidFill>
              </a:defRPr>
            </a:pPr>
            <a:r>
              <a:t>Total Loss Function:</a:t>
            </a:r>
          </a:p>
          <a:p>
            <a:pPr>
              <a:spcAft>
                <a:spcPts val="1500"/>
              </a:spcAft>
              <a:defRPr sz="1400">
                <a:latin typeface="Courier New"/>
              </a:defRPr>
            </a:pPr>
            <a:r>
              <a:t>L_total = λ₁L_GAEX + λ₂L_GAEA + λ₃L_clu + λ₄L_gae + λ₅L_ZINB</a:t>
            </a:r>
          </a:p>
          <a:p>
            <a:pPr>
              <a:spcAft>
                <a:spcPts val="300"/>
              </a:spcAft>
              <a:defRPr sz="1400" b="1"/>
            </a:pPr>
            <a:r>
              <a:t>1. L_ZINB: ZINB reconstruction loss</a:t>
            </a:r>
          </a:p>
          <a:p>
            <a:pPr>
              <a:spcAft>
                <a:spcPts val="800"/>
              </a:spcAft>
              <a:defRPr sz="1200">
                <a:solidFill>
                  <a:srgbClr val="646464"/>
                </a:solidFill>
              </a:defRPr>
            </a:pPr>
            <a:r>
              <a:t>   Weight: λ₅ = 0.5</a:t>
            </a:r>
          </a:p>
          <a:p>
            <a:pPr>
              <a:spcAft>
                <a:spcPts val="300"/>
              </a:spcAft>
              <a:defRPr sz="1400" b="1"/>
            </a:pPr>
            <a:r>
              <a:t>2. L_GAEX: Graph expression preservation</a:t>
            </a:r>
          </a:p>
          <a:p>
            <a:pPr>
              <a:spcAft>
                <a:spcPts val="800"/>
              </a:spcAft>
              <a:defRPr sz="1200">
                <a:solidFill>
                  <a:srgbClr val="646464"/>
                </a:solidFill>
              </a:defRPr>
            </a:pPr>
            <a:r>
              <a:t>   Weight: λ₁ = 0.5</a:t>
            </a:r>
          </a:p>
          <a:p>
            <a:pPr>
              <a:spcAft>
                <a:spcPts val="300"/>
              </a:spcAft>
              <a:defRPr sz="1400" b="1"/>
            </a:pPr>
            <a:r>
              <a:t>3. L_GAEA: Graph adjacency reconstruction</a:t>
            </a:r>
          </a:p>
          <a:p>
            <a:pPr>
              <a:spcAft>
                <a:spcPts val="800"/>
              </a:spcAft>
              <a:defRPr sz="1200">
                <a:solidFill>
                  <a:srgbClr val="646464"/>
                </a:solidFill>
              </a:defRPr>
            </a:pPr>
            <a:r>
              <a:t>   Weight: λ₂ = 0.01</a:t>
            </a:r>
          </a:p>
          <a:p>
            <a:pPr>
              <a:spcAft>
                <a:spcPts val="300"/>
              </a:spcAft>
              <a:defRPr sz="1400" b="1"/>
            </a:pPr>
            <a:r>
              <a:t>4. L_clu: Clustering loss (ZINB module)</a:t>
            </a:r>
          </a:p>
          <a:p>
            <a:pPr>
              <a:spcAft>
                <a:spcPts val="800"/>
              </a:spcAft>
              <a:defRPr sz="1200">
                <a:solidFill>
                  <a:srgbClr val="646464"/>
                </a:solidFill>
              </a:defRPr>
            </a:pPr>
            <a:r>
              <a:t>   Weight: λ₃ = 0.1</a:t>
            </a:r>
          </a:p>
          <a:p>
            <a:pPr>
              <a:spcAft>
                <a:spcPts val="300"/>
              </a:spcAft>
              <a:defRPr sz="1400" b="1"/>
            </a:pPr>
            <a:r>
              <a:t>5. L_gae: Clustering loss (GCN module)</a:t>
            </a:r>
          </a:p>
          <a:p>
            <a:pPr>
              <a:spcAft>
                <a:spcPts val="800"/>
              </a:spcAft>
              <a:defRPr sz="1200">
                <a:solidFill>
                  <a:srgbClr val="646464"/>
                </a:solidFill>
              </a:defRPr>
            </a:pPr>
            <a:r>
              <a:t>   Weight: λ₄ = 0.01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Loss 1: ZINB Reconstruction Loss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800">
                <a:solidFill>
                  <a:srgbClr val="0070C0"/>
                </a:solidFill>
              </a:defRPr>
            </a:pPr>
            <a:r>
              <a:t>Purpose:</a:t>
            </a:r>
          </a:p>
          <a:p>
            <a:pPr>
              <a:spcAft>
                <a:spcPts val="1000"/>
              </a:spcAft>
              <a:defRPr sz="1400"/>
            </a:pPr>
            <a:r>
              <a:t>Model the zero-inflated and overdispersed nature of scRNA-seq data</a:t>
            </a:r>
          </a:p>
          <a:p>
            <a:pPr>
              <a:defRPr b="1" sz="1800">
                <a:solidFill>
                  <a:srgbClr val="0070C0"/>
                </a:solidFill>
              </a:defRPr>
            </a:pPr>
            <a:r>
              <a:t>Formula:</a:t>
            </a:r>
          </a:p>
          <a:p>
            <a:pPr>
              <a:spcAft>
                <a:spcPts val="1000"/>
              </a:spcAft>
              <a:defRPr sz="1400">
                <a:latin typeface="Courier New"/>
              </a:defRPr>
            </a:pPr>
            <a:r>
              <a:t>L_ZINB = -log(ZINB(X̄|π, μ, θ))</a:t>
            </a:r>
          </a:p>
          <a:p>
            <a:pPr>
              <a:defRPr b="1" sz="1600"/>
            </a:pPr>
            <a:r>
              <a:t>ZINB Distribution:</a:t>
            </a:r>
          </a:p>
          <a:p>
            <a:pPr>
              <a:spcAft>
                <a:spcPts val="1000"/>
              </a:spcAft>
              <a:defRPr sz="1300">
                <a:latin typeface="Courier New"/>
              </a:defRPr>
            </a:pPr>
            <a:r>
              <a:t>ZINB(X̄|π,μ,θ) = π·δ₀(X̄) + (1-π)·NB(X̄|μ,θ)</a:t>
            </a:r>
          </a:p>
          <a:p>
            <a:pPr>
              <a:defRPr b="1" sz="1600"/>
            </a:pPr>
            <a:r>
              <a:t>Key Properties:</a:t>
            </a:r>
          </a:p>
          <a:p>
            <a:pPr>
              <a:spcAft>
                <a:spcPts val="300"/>
              </a:spcAft>
              <a:defRPr sz="1300"/>
            </a:pPr>
            <a:r>
              <a:t>• π: Dropout probability (models zero-inflation)</a:t>
            </a:r>
          </a:p>
          <a:p>
            <a:pPr>
              <a:spcAft>
                <a:spcPts val="300"/>
              </a:spcAft>
              <a:defRPr sz="1300"/>
            </a:pPr>
            <a:r>
              <a:t>• μ: Mean parameter (expression level)</a:t>
            </a:r>
          </a:p>
          <a:p>
            <a:pPr>
              <a:spcAft>
                <a:spcPts val="300"/>
              </a:spcAft>
              <a:defRPr sz="1300"/>
            </a:pPr>
            <a:r>
              <a:t>• θ: Dispersion parameter (overdispersion)</a:t>
            </a:r>
          </a:p>
          <a:p>
            <a:pPr>
              <a:spcAft>
                <a:spcPts val="300"/>
              </a:spcAft>
              <a:defRPr sz="1300"/>
            </a:pPr>
            <a:r>
              <a:t>• Negative log-likelihood guides distribution learning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Loss 2 &amp; 3: Graph Autoencoder Losses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600">
                <a:solidFill>
                  <a:srgbClr val="0070C0"/>
                </a:solidFill>
              </a:defRPr>
            </a:pPr>
            <a:r>
              <a:t>Loss 2: Graph Adjacency Reconstruction (L_GAEA)</a:t>
            </a:r>
          </a:p>
          <a:p>
            <a:pPr>
              <a:spcAft>
                <a:spcPts val="500"/>
              </a:spcAft>
              <a:defRPr sz="1400">
                <a:latin typeface="Courier New"/>
              </a:defRPr>
            </a:pPr>
            <a:r>
              <a:t>L_GAEA = ||A - Â||²_F</a:t>
            </a:r>
          </a:p>
          <a:p>
            <a:pPr>
              <a:spcAft>
                <a:spcPts val="1000"/>
              </a:spcAft>
              <a:defRPr sz="1200" i="1"/>
            </a:pPr>
            <a:r>
              <a:t>where Â = sigmoid(Z_L^T × Z_L)</a:t>
            </a:r>
          </a:p>
          <a:p>
            <a:pPr>
              <a:spcAft>
                <a:spcPts val="1500"/>
              </a:spcAft>
              <a:defRPr sz="1300"/>
            </a:pPr>
            <a:r>
              <a:t>Purpose: Preserve structural relationships between cells</a:t>
            </a:r>
          </a:p>
          <a:p>
            <a:pPr>
              <a:defRPr b="1" sz="1600">
                <a:solidFill>
                  <a:srgbClr val="0070C0"/>
                </a:solidFill>
              </a:defRPr>
            </a:pPr>
            <a:r>
              <a:t>Loss 3: Graph Expression Preservation (L_GAEX)</a:t>
            </a:r>
          </a:p>
          <a:p>
            <a:pPr>
              <a:spcAft>
                <a:spcPts val="1000"/>
              </a:spcAft>
              <a:defRPr sz="1400">
                <a:latin typeface="Courier New"/>
              </a:defRPr>
            </a:pPr>
            <a:r>
              <a:t>L_GAEX = ||X̄ - Z_L||²_F</a:t>
            </a:r>
          </a:p>
          <a:p>
            <a:pPr>
              <a:spcAft>
                <a:spcPts val="1000"/>
              </a:spcAft>
              <a:defRPr sz="1300"/>
            </a:pPr>
            <a:r>
              <a:t>Purpose: Ensure GCN output retains gene expression information</a:t>
            </a:r>
          </a:p>
          <a:p>
            <a:pPr>
              <a:defRPr sz="1400" b="1">
                <a:solidFill>
                  <a:srgbClr val="ED7D31"/>
                </a:solidFill>
              </a:defRPr>
            </a:pPr>
            <a:r>
              <a:t>Together: Structure + Content preservation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Loss 4 &amp; 5: Clustering Losses (KL Divergence)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600">
                <a:solidFill>
                  <a:srgbClr val="0070C0"/>
                </a:solidFill>
              </a:defRPr>
            </a:pPr>
            <a:r>
              <a:t>Loss 4: ZINB Module Clustering (L_clu)</a:t>
            </a:r>
          </a:p>
          <a:p>
            <a:pPr>
              <a:spcAft>
                <a:spcPts val="1000"/>
              </a:spcAft>
              <a:defRPr sz="1300">
                <a:latin typeface="Courier New"/>
              </a:defRPr>
            </a:pPr>
            <a:r>
              <a:t>L_clu = KL(P||Q) = Σᵢⱼ p_ij × log(p_ij / q_ij)</a:t>
            </a:r>
          </a:p>
          <a:p>
            <a:pPr>
              <a:spcAft>
                <a:spcPts val="1500"/>
              </a:spcAft>
              <a:defRPr sz="1200" i="1"/>
            </a:pPr>
            <a:r>
              <a:t>Applied to: H_(L/2) (middle layer of ZINB autoencoder)</a:t>
            </a:r>
          </a:p>
          <a:p>
            <a:pPr>
              <a:defRPr b="1" sz="1600">
                <a:solidFill>
                  <a:srgbClr val="0070C0"/>
                </a:solidFill>
              </a:defRPr>
            </a:pPr>
            <a:r>
              <a:t>Loss 5: GCN Module Clustering (L_gae)</a:t>
            </a:r>
          </a:p>
          <a:p>
            <a:pPr>
              <a:spcAft>
                <a:spcPts val="1000"/>
              </a:spcAft>
              <a:defRPr sz="1300">
                <a:latin typeface="Courier New"/>
              </a:defRPr>
            </a:pPr>
            <a:r>
              <a:t>L_gae = KL(P||Z_pre) = Σᵢⱼ p_ij × log(p_ij / z_ij)</a:t>
            </a:r>
          </a:p>
          <a:p>
            <a:pPr>
              <a:spcAft>
                <a:spcPts val="1500"/>
              </a:spcAft>
              <a:defRPr sz="1200" i="1"/>
            </a:pPr>
            <a:r>
              <a:t>Applied to: Z_pre (softmax output from GCN)</a:t>
            </a:r>
          </a:p>
          <a:p>
            <a:pPr>
              <a:defRPr b="1" sz="1400"/>
            </a:pPr>
            <a:r>
              <a:t>Key Insight: Dual self-supervision</a:t>
            </a:r>
          </a:p>
          <a:p>
            <a:pPr>
              <a:defRPr sz="1300">
                <a:solidFill>
                  <a:srgbClr val="ED7D31"/>
                </a:solidFill>
              </a:defRPr>
            </a:pPr>
            <a:r>
              <a:t>Both modules guided by same target distribution 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b="1" sz="1800">
                <a:solidFill>
                  <a:srgbClr val="0070C0"/>
                </a:solidFill>
              </a:defRPr>
            </a:pPr>
            <a:r>
              <a:t>Two-Phase Training Process:</a:t>
            </a:r>
          </a:p>
          <a:p>
            <a:pPr>
              <a:defRPr b="1" sz="1600"/>
            </a:pPr>
            <a:r>
              <a:t>Phase 1: Pre-training (100 epochs)</a:t>
            </a:r>
          </a:p>
          <a:p>
            <a:pPr>
              <a:spcAft>
                <a:spcPts val="300"/>
              </a:spcAft>
              <a:defRPr sz="1300"/>
            </a:pPr>
            <a:r>
              <a:t>• Train ZINB autoencoder only</a:t>
            </a:r>
          </a:p>
          <a:p>
            <a:pPr>
              <a:spcAft>
                <a:spcPts val="300"/>
              </a:spcAft>
              <a:defRPr sz="1300"/>
            </a:pPr>
            <a:r>
              <a:t>• Loss: L_ZINB only</a:t>
            </a:r>
          </a:p>
          <a:p>
            <a:pPr>
              <a:spcAft>
                <a:spcPts val="300"/>
              </a:spcAft>
              <a:defRPr sz="1300"/>
            </a:pPr>
            <a:r>
              <a:t>• Learning rate: 0.001 (Adam optimizer)</a:t>
            </a:r>
          </a:p>
          <a:p>
            <a:pPr>
              <a:spcAft>
                <a:spcPts val="300"/>
              </a:spcAft>
              <a:defRPr sz="1300"/>
            </a:pPr>
            <a:r>
              <a:t>• Purpose: Good initialization for joint training</a:t>
            </a:r>
          </a:p>
          <a:p>
            <a:pPr>
              <a:spcAft>
                <a:spcPts val="1000"/>
              </a:spcAft>
            </a:pPr>
          </a:p>
          <a:p>
            <a:pPr>
              <a:defRPr b="1" sz="1600"/>
            </a:pPr>
            <a:r>
              <a:t>Phase 2: Joint Optimization (200 epochs)</a:t>
            </a:r>
          </a:p>
          <a:p>
            <a:pPr>
              <a:spcAft>
                <a:spcPts val="300"/>
              </a:spcAft>
              <a:defRPr sz="1300"/>
            </a:pPr>
            <a:r>
              <a:t>• Train all modules simultaneously</a:t>
            </a:r>
          </a:p>
          <a:p>
            <a:pPr>
              <a:spcAft>
                <a:spcPts val="300"/>
              </a:spcAft>
              <a:defRPr sz="1300"/>
            </a:pPr>
            <a:r>
              <a:t>• Loss: L_total (all 5 components)</a:t>
            </a:r>
          </a:p>
          <a:p>
            <a:pPr>
              <a:spcAft>
                <a:spcPts val="300"/>
              </a:spcAft>
              <a:defRPr sz="1300"/>
            </a:pPr>
            <a:r>
              <a:t>• Learning rate: 0.001 (Adam optimizer)</a:t>
            </a:r>
          </a:p>
          <a:p>
            <a:pPr>
              <a:spcAft>
                <a:spcPts val="300"/>
              </a:spcAft>
              <a:defRPr sz="1300"/>
            </a:pPr>
            <a:r>
              <a:t>• Initialize cluster centers with k-means</a:t>
            </a:r>
          </a:p>
          <a:p>
            <a:pPr>
              <a:spcAft>
                <a:spcPts val="300"/>
              </a:spcAft>
              <a:defRPr sz="1300"/>
            </a:pPr>
            <a:r>
              <a:t>• Update network parameters and cluster centers</a:t>
            </a:r>
          </a:p>
          <a:p>
            <a:pPr>
              <a:spcAft>
                <a:spcPts val="300"/>
              </a:spcAft>
              <a:defRPr sz="1300"/>
            </a:pPr>
            <a:r>
              <a:t>• Convergence: Stop when assignment changes &lt; 0.1%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b="1" sz="1800">
                <a:solidFill>
                  <a:srgbClr val="0070C0"/>
                </a:solidFill>
              </a:defRPr>
            </a:pPr>
            <a:r>
              <a:t>Primary Metrics:</a:t>
            </a:r>
          </a:p>
          <a:p>
            <a:pPr>
              <a:defRPr b="1" sz="1500"/>
            </a:pPr>
            <a:r>
              <a:t>1. Normalized Mutual Information (NMI)</a:t>
            </a:r>
          </a:p>
          <a:p>
            <a:pPr>
              <a:spcAft>
                <a:spcPts val="200"/>
              </a:spcAft>
              <a:defRPr sz="1200"/>
            </a:pPr>
            <a:r>
              <a:t>• Range: [0, 1], higher is better</a:t>
            </a:r>
          </a:p>
          <a:p>
            <a:pPr>
              <a:spcAft>
                <a:spcPts val="200"/>
              </a:spcAft>
              <a:defRPr sz="1200"/>
            </a:pPr>
            <a:r>
              <a:t>• Measures information shared between clusters and true labels</a:t>
            </a:r>
          </a:p>
          <a:p>
            <a:pPr>
              <a:spcAft>
                <a:spcPts val="200"/>
              </a:spcAft>
              <a:defRPr sz="1200"/>
            </a:pPr>
            <a:r>
              <a:t>• Formula: NMI = 2·I(C,K) / (H(C) + H(K))</a:t>
            </a:r>
          </a:p>
          <a:p>
            <a:pPr>
              <a:spcAft>
                <a:spcPts val="200"/>
              </a:spcAft>
              <a:defRPr sz="1200"/>
            </a:pPr>
            <a:r>
              <a:t>• Information-theoretic measure</a:t>
            </a:r>
          </a:p>
          <a:p>
            <a:pPr>
              <a:spcAft>
                <a:spcPts val="800"/>
              </a:spcAft>
            </a:pPr>
          </a:p>
          <a:p>
            <a:pPr>
              <a:defRPr b="1" sz="1500"/>
            </a:pPr>
            <a:r>
              <a:t>2. Adjusted Rand Index (ARI)</a:t>
            </a:r>
          </a:p>
          <a:p>
            <a:pPr>
              <a:spcAft>
                <a:spcPts val="200"/>
              </a:spcAft>
              <a:defRPr sz="1200"/>
            </a:pPr>
            <a:r>
              <a:t>• Range: [-1, 1], higher is better</a:t>
            </a:r>
          </a:p>
          <a:p>
            <a:pPr>
              <a:spcAft>
                <a:spcPts val="200"/>
              </a:spcAft>
              <a:defRPr sz="1200"/>
            </a:pPr>
            <a:r>
              <a:t>• Measures similarity adjusted for chance</a:t>
            </a:r>
          </a:p>
          <a:p>
            <a:pPr>
              <a:spcAft>
                <a:spcPts val="200"/>
              </a:spcAft>
              <a:defRPr sz="1200"/>
            </a:pPr>
            <a:r>
              <a:t>• Robust to cluster size imbalances</a:t>
            </a:r>
          </a:p>
          <a:p>
            <a:pPr>
              <a:spcAft>
                <a:spcPts val="200"/>
              </a:spcAft>
              <a:defRPr sz="1200"/>
            </a:pPr>
            <a:r>
              <a:t>• Widely accepted benchmark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Setup &amp;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600">
                <a:solidFill>
                  <a:srgbClr val="0070C0"/>
                </a:solidFill>
              </a:defRPr>
            </a:pPr>
            <a:r>
              <a:t>Datasets (6 scRNA-seq datasets):</a:t>
            </a:r>
          </a:p>
          <a:p>
            <a:pPr>
              <a:spcAft>
                <a:spcPts val="300"/>
              </a:spcAft>
              <a:defRPr sz="1200"/>
            </a:pPr>
            <a:r>
              <a:t>• QS Limb Muscle: 1,090 cells, 6 types (Smart-seq2)</a:t>
            </a:r>
          </a:p>
          <a:p>
            <a:pPr>
              <a:spcAft>
                <a:spcPts val="300"/>
              </a:spcAft>
              <a:defRPr sz="1200"/>
            </a:pPr>
            <a:r>
              <a:t>• Adam: 3,660 cells, 8 types (Drop-seq, kidney)</a:t>
            </a:r>
          </a:p>
          <a:p>
            <a:pPr>
              <a:spcAft>
                <a:spcPts val="300"/>
              </a:spcAft>
              <a:defRPr sz="1200"/>
            </a:pPr>
            <a:r>
              <a:t>• QS Diaphragm: 870 cells, 5 types (Smart-seq2)</a:t>
            </a:r>
          </a:p>
          <a:p>
            <a:pPr>
              <a:spcAft>
                <a:spcPts val="300"/>
              </a:spcAft>
              <a:defRPr sz="1200"/>
            </a:pPr>
            <a:r>
              <a:t>• QS Trachea: 1,350 cells, 4 types (Smart-seq2)</a:t>
            </a:r>
          </a:p>
          <a:p>
            <a:pPr>
              <a:spcAft>
                <a:spcPts val="300"/>
              </a:spcAft>
              <a:defRPr sz="1200"/>
            </a:pPr>
            <a:r>
              <a:t>• Romanov: 2,881 cells, 7 types (SMARTer, hypothalamus)</a:t>
            </a:r>
          </a:p>
          <a:p>
            <a:pPr>
              <a:spcAft>
                <a:spcPts val="300"/>
              </a:spcAft>
              <a:defRPr sz="1200"/>
            </a:pPr>
            <a:r>
              <a:t>• QX Limb Muscle: 3,909 cells, 6 types (10x)</a:t>
            </a:r>
          </a:p>
          <a:p>
            <a:pPr>
              <a:spcAft>
                <a:spcPts val="1000"/>
              </a:spcAft>
            </a:pPr>
          </a:p>
          <a:p>
            <a:pPr>
              <a:defRPr b="1" sz="1600">
                <a:solidFill>
                  <a:srgbClr val="0070C0"/>
                </a:solidFill>
              </a:defRPr>
            </a:pPr>
            <a:r>
              <a:t>Validation Strategy:</a:t>
            </a:r>
          </a:p>
          <a:p>
            <a:pPr>
              <a:spcAft>
                <a:spcPts val="300"/>
              </a:spcAft>
              <a:defRPr sz="1300"/>
            </a:pPr>
            <a:r>
              <a:t>• 5 repetitions per experiment</a:t>
            </a:r>
          </a:p>
          <a:p>
            <a:pPr>
              <a:spcAft>
                <a:spcPts val="300"/>
              </a:spcAft>
              <a:defRPr sz="1300"/>
            </a:pPr>
            <a:r>
              <a:t>• Tested with 500, 1000, 1500, 2000 genes</a:t>
            </a:r>
          </a:p>
          <a:p>
            <a:pPr>
              <a:spcAft>
                <a:spcPts val="300"/>
              </a:spcAft>
              <a:defRPr sz="1300"/>
            </a:pPr>
            <a:r>
              <a:t>• Comparison with 7 baseline methods</a:t>
            </a:r>
          </a:p>
          <a:p>
            <a:pPr>
              <a:spcAft>
                <a:spcPts val="300"/>
              </a:spcAft>
              <a:defRPr sz="1300"/>
            </a:pPr>
            <a:r>
              <a:t>• Ablation studies (w/o ZINB, Attention, Graph)</a:t>
            </a:r>
          </a:p>
          <a:p>
            <a:pPr>
              <a:spcAft>
                <a:spcPts val="300"/>
              </a:spcAft>
              <a:defRPr sz="1300"/>
            </a:pPr>
            <a:r>
              <a:t>• Parameter sensitivity analysis (α, k, HVG)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600">
                <a:solidFill>
                  <a:srgbClr val="0070C0"/>
                </a:solidFill>
              </a:defRPr>
            </a:pPr>
            <a:r>
              <a:t>Best Performance (QX Limb Muscle):</a:t>
            </a:r>
          </a:p>
          <a:p>
            <a:pPr>
              <a:defRPr sz="1400" b="1">
                <a:solidFill>
                  <a:srgbClr val="ED7D31"/>
                </a:solidFill>
              </a:defRPr>
            </a:pPr>
            <a:r>
              <a:t>• NMI: 0.9665 (vs 0.9556 best baseline)</a:t>
            </a:r>
          </a:p>
          <a:p>
            <a:pPr>
              <a:spcAft>
                <a:spcPts val="1500"/>
              </a:spcAft>
              <a:defRPr sz="1400" b="1">
                <a:solidFill>
                  <a:srgbClr val="ED7D31"/>
                </a:solidFill>
              </a:defRPr>
            </a:pPr>
            <a:r>
              <a:t>• ARI: 0.9829 (vs 0.9702 best baseline)</a:t>
            </a:r>
          </a:p>
          <a:p>
            <a:pPr>
              <a:defRPr b="1" sz="1600">
                <a:solidFill>
                  <a:srgbClr val="0070C0"/>
                </a:solidFill>
              </a:defRPr>
            </a:pPr>
            <a:r>
              <a:t>Overall Performance:</a:t>
            </a:r>
          </a:p>
          <a:p>
            <a:pPr>
              <a:spcAft>
                <a:spcPts val="500"/>
              </a:spcAft>
              <a:defRPr sz="1300"/>
            </a:pPr>
            <a:r>
              <a:t>✓ Outperforms all 7 baseline methods on all 6 datasets</a:t>
            </a:r>
          </a:p>
          <a:p>
            <a:pPr>
              <a:spcAft>
                <a:spcPts val="500"/>
              </a:spcAft>
              <a:defRPr sz="1300"/>
            </a:pPr>
            <a:r>
              <a:t>✓ Average NMI: 0.8695 (vs 0.8392 for scDSC)</a:t>
            </a:r>
          </a:p>
          <a:p>
            <a:pPr>
              <a:spcAft>
                <a:spcPts val="500"/>
              </a:spcAft>
              <a:defRPr sz="1300"/>
            </a:pPr>
            <a:r>
              <a:t>✓ Average ARI: 0.8897 (vs 0.8497 for scDSC)</a:t>
            </a:r>
          </a:p>
          <a:p>
            <a:pPr>
              <a:spcAft>
                <a:spcPts val="500"/>
              </a:spcAft>
              <a:defRPr sz="1300"/>
            </a:pPr>
            <a:r>
              <a:t>✓ Largest improvement on QS Trachea (+10.2% NMI)</a:t>
            </a:r>
          </a:p>
          <a:p>
            <a:pPr>
              <a:spcAft>
                <a:spcPts val="500"/>
              </a:spcAft>
              <a:defRPr sz="1300"/>
            </a:pPr>
            <a:r>
              <a:t>✓ Consistent across multiple platforms</a:t>
            </a:r>
          </a:p>
          <a:p>
            <a:pPr>
              <a:spcAft>
                <a:spcPts val="500"/>
              </a:spcAft>
              <a:defRPr sz="1300"/>
            </a:pPr>
            <a:r>
              <a:t>✓ Robust to parameter variations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Ablation Study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b="1" sz="1600">
                <a:solidFill>
                  <a:srgbClr val="0070C0"/>
                </a:solidFill>
              </a:defRPr>
            </a:pPr>
            <a:r>
              <a:t>Component Importance (Average across 6 datasets):</a:t>
            </a:r>
          </a:p>
          <a:p>
            <a:pPr>
              <a:spcAft>
                <a:spcPts val="500"/>
              </a:spcAft>
              <a:defRPr sz="1200" b="1">
                <a:latin typeface="Courier New"/>
              </a:defRPr>
            </a:pPr>
            <a:r>
              <a:t>Model Variant          NMI      ARI     Impact</a:t>
            </a:r>
          </a:p>
          <a:p>
            <a:pPr>
              <a:spcAft>
                <a:spcPts val="300"/>
              </a:spcAft>
              <a:defRPr sz="1100">
                <a:solidFill>
                  <a:srgbClr val="ED7D31"/>
                </a:solidFill>
                <a:latin typeface="Courier New"/>
              </a:defRPr>
            </a:pPr>
            <a:r>
              <a:t>scASDC (full model)    0.8450  0.8281  Baseline</a:t>
            </a:r>
          </a:p>
          <a:p>
            <a:pPr>
              <a:spcAft>
                <a:spcPts val="300"/>
              </a:spcAft>
              <a:defRPr sz="1100">
                <a:solidFill>
                  <a:srgbClr val="000000"/>
                </a:solidFill>
                <a:latin typeface="Courier New"/>
              </a:defRPr>
            </a:pPr>
            <a:r>
              <a:t>w/o ZINB Loss          0.8052  0.7841  -4.7% NMI, -5.3% ARI</a:t>
            </a:r>
          </a:p>
          <a:p>
            <a:pPr>
              <a:spcAft>
                <a:spcPts val="300"/>
              </a:spcAft>
              <a:defRPr sz="1100">
                <a:solidFill>
                  <a:srgbClr val="000000"/>
                </a:solidFill>
                <a:latin typeface="Courier New"/>
              </a:defRPr>
            </a:pPr>
            <a:r>
              <a:t>w/o Attention          0.8343  0.8215  -1.3% NMI, -0.8% ARI</a:t>
            </a:r>
          </a:p>
          <a:p>
            <a:pPr>
              <a:spcAft>
                <a:spcPts val="300"/>
              </a:spcAft>
              <a:defRPr sz="1100">
                <a:solidFill>
                  <a:srgbClr val="000000"/>
                </a:solidFill>
                <a:latin typeface="Courier New"/>
              </a:defRPr>
            </a:pPr>
            <a:r>
              <a:t>w/o Graph Loss         0.8103  0.7609  -4.1% NMI, -8.1% ARI</a:t>
            </a:r>
          </a:p>
          <a:p>
            <a:pPr>
              <a:spcAft>
                <a:spcPts val="1500"/>
              </a:spcAft>
            </a:pPr>
          </a:p>
          <a:p>
            <a:pPr>
              <a:defRPr b="1" sz="1600">
                <a:solidFill>
                  <a:srgbClr val="0070C0"/>
                </a:solidFill>
              </a:defRPr>
            </a:pPr>
            <a:r>
              <a:t>Key Findings:</a:t>
            </a:r>
          </a:p>
          <a:p>
            <a:pPr>
              <a:spcAft>
                <a:spcPts val="300"/>
              </a:spcAft>
              <a:defRPr sz="1300"/>
            </a:pPr>
            <a:r>
              <a:t>• All components are essential for optimal performance</a:t>
            </a:r>
          </a:p>
          <a:p>
            <a:pPr>
              <a:spcAft>
                <a:spcPts val="300"/>
              </a:spcAft>
              <a:defRPr sz="1300"/>
            </a:pPr>
            <a:r>
              <a:t>• ZINB Loss: Critical for distribution modeling</a:t>
            </a:r>
          </a:p>
          <a:p>
            <a:pPr>
              <a:spcAft>
                <a:spcPts val="300"/>
              </a:spcAft>
              <a:defRPr sz="1300"/>
            </a:pPr>
            <a:r>
              <a:t>• Graph Loss: Most important for ARI (-8.1%)</a:t>
            </a:r>
          </a:p>
          <a:p>
            <a:pPr>
              <a:spcAft>
                <a:spcPts val="300"/>
              </a:spcAft>
              <a:defRPr sz="1300"/>
            </a:pPr>
            <a:r>
              <a:t>• Attention: Consistent positive impact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with Baseline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b="1" sz="1600">
                <a:solidFill>
                  <a:srgbClr val="0070C0"/>
                </a:solidFill>
              </a:defRPr>
            </a:pPr>
            <a:r>
              <a:t>Seven Baseline Methods Compared:</a:t>
            </a:r>
          </a:p>
          <a:p>
            <a:pPr>
              <a:spcAft>
                <a:spcPts val="300"/>
              </a:spcAft>
              <a:defRPr sz="1200"/>
            </a:pPr>
            <a:r>
              <a:t>1. DESC - Deep embedding with batch effect removal</a:t>
            </a:r>
          </a:p>
          <a:p>
            <a:pPr>
              <a:spcAft>
                <a:spcPts val="300"/>
              </a:spcAft>
              <a:defRPr sz="1200"/>
            </a:pPr>
            <a:r>
              <a:t>2. SDCN - Structural deep clustering network</a:t>
            </a:r>
          </a:p>
          <a:p>
            <a:pPr>
              <a:spcAft>
                <a:spcPts val="300"/>
              </a:spcAft>
              <a:defRPr sz="1200"/>
            </a:pPr>
            <a:r>
              <a:t>3. scDeepCluster - ZINB-based deep clustering</a:t>
            </a:r>
          </a:p>
          <a:p>
            <a:pPr>
              <a:spcAft>
                <a:spcPts val="300"/>
              </a:spcAft>
              <a:defRPr sz="1200"/>
            </a:pPr>
            <a:r>
              <a:t>4. DCA - Deep count autoencoder</a:t>
            </a:r>
          </a:p>
          <a:p>
            <a:pPr>
              <a:spcAft>
                <a:spcPts val="300"/>
              </a:spcAft>
              <a:defRPr sz="1200"/>
            </a:pPr>
            <a:r>
              <a:t>5. scDSC - Deep structural clustering (ZINB+GNN)</a:t>
            </a:r>
          </a:p>
          <a:p>
            <a:pPr>
              <a:spcAft>
                <a:spcPts val="300"/>
              </a:spcAft>
              <a:defRPr sz="1200"/>
            </a:pPr>
            <a:r>
              <a:t>6. DEC - Deep embedding clustering</a:t>
            </a:r>
          </a:p>
          <a:p>
            <a:pPr>
              <a:spcAft>
                <a:spcPts val="300"/>
              </a:spcAft>
              <a:defRPr sz="1200"/>
            </a:pPr>
            <a:r>
              <a:t>7. AttentionAE-sc - Attention-based autoencoder</a:t>
            </a:r>
          </a:p>
          <a:p>
            <a:pPr>
              <a:spcAft>
                <a:spcPts val="1000"/>
              </a:spcAft>
            </a:pPr>
          </a:p>
          <a:p>
            <a:pPr>
              <a:defRPr b="1" sz="1600">
                <a:solidFill>
                  <a:srgbClr val="0070C0"/>
                </a:solidFill>
              </a:defRPr>
            </a:pPr>
            <a:r>
              <a:t>Why scASDC is Superior:</a:t>
            </a:r>
          </a:p>
          <a:p>
            <a:pPr>
              <a:spcAft>
                <a:spcPts val="500"/>
              </a:spcAft>
              <a:defRPr sz="1300" b="1"/>
            </a:pPr>
            <a:r>
              <a:t>✓ Only method combining ZINB + GCN + Multi-head Attention</a:t>
            </a:r>
          </a:p>
          <a:p>
            <a:pPr>
              <a:spcAft>
                <a:spcPts val="500"/>
              </a:spcAft>
              <a:defRPr sz="1300" b="1"/>
            </a:pPr>
            <a:r>
              <a:t>✓ Layer-wise fusion (not simple concatenation)</a:t>
            </a:r>
          </a:p>
          <a:p>
            <a:pPr>
              <a:spcAft>
                <a:spcPts val="500"/>
              </a:spcAft>
              <a:defRPr sz="1300" b="1"/>
            </a:pPr>
            <a:r>
              <a:t>✓ Dual self-supervision on both modules</a:t>
            </a:r>
          </a:p>
          <a:p>
            <a:pPr>
              <a:spcAft>
                <a:spcPts val="500"/>
              </a:spcAft>
              <a:defRPr sz="1300" b="1"/>
            </a:pPr>
            <a:r>
              <a:t>✓ 100% win rate across all datasets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Biological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b="1" sz="1600">
                <a:solidFill>
                  <a:srgbClr val="0070C0"/>
                </a:solidFill>
              </a:defRPr>
            </a:pPr>
            <a:r>
              <a:t>Downstream Analysis Confirms Biological Relevance:</a:t>
            </a:r>
          </a:p>
          <a:p>
            <a:pPr>
              <a:defRPr b="1" sz="1400"/>
            </a:pPr>
            <a:r>
              <a:t>1. Differential Gene Expression</a:t>
            </a:r>
          </a:p>
          <a:p>
            <a:pPr>
              <a:defRPr sz="1200"/>
            </a:pPr>
            <a:r>
              <a:t>• Identifies highly expressed genes per cluster</a:t>
            </a:r>
          </a:p>
          <a:p>
            <a:pPr>
              <a:spcAft>
                <a:spcPts val="1000"/>
              </a:spcAft>
              <a:defRPr sz="1200"/>
            </a:pPr>
            <a:r>
              <a:t>• Expression heatmaps show clear patterns</a:t>
            </a:r>
          </a:p>
          <a:p>
            <a:pPr>
              <a:defRPr b="1" sz="1400"/>
            </a:pPr>
            <a:r>
              <a:t>2. Pathway Enrichment Analysis</a:t>
            </a:r>
          </a:p>
          <a:p>
            <a:pPr>
              <a:defRPr sz="1200"/>
            </a:pPr>
            <a:r>
              <a:t>• T Cell cluster enriched in:</a:t>
            </a:r>
          </a:p>
          <a:p>
            <a:pPr lvl="1">
              <a:defRPr sz="1100"/>
            </a:pPr>
            <a:r>
              <a:t>  - T cell activation pathways</a:t>
            </a:r>
          </a:p>
          <a:p>
            <a:pPr lvl="1">
              <a:defRPr sz="1100"/>
            </a:pPr>
            <a:r>
              <a:t>  - T cell receptor signaling</a:t>
            </a:r>
          </a:p>
          <a:p>
            <a:pPr>
              <a:defRPr sz="1200"/>
            </a:pPr>
            <a:r>
              <a:t>• B Cell cluster enriched in:</a:t>
            </a:r>
          </a:p>
          <a:p>
            <a:pPr lvl="1">
              <a:defRPr sz="1100"/>
            </a:pPr>
            <a:r>
              <a:t>  - B cell activation pathways</a:t>
            </a:r>
          </a:p>
          <a:p>
            <a:pPr lvl="1">
              <a:spcAft>
                <a:spcPts val="1000"/>
              </a:spcAft>
              <a:defRPr sz="1100"/>
            </a:pPr>
            <a:r>
              <a:t>  - B cell receptor signaling</a:t>
            </a:r>
          </a:p>
          <a:p>
            <a:pPr>
              <a:defRPr b="1" sz="1400"/>
            </a:pPr>
            <a:r>
              <a:t>3. Visualization (UMAP)</a:t>
            </a:r>
          </a:p>
          <a:p>
            <a:pPr>
              <a:defRPr sz="1200"/>
            </a:pPr>
            <a:r>
              <a:t>• Clear separation of cell populations</a:t>
            </a:r>
          </a:p>
          <a:p>
            <a:pPr>
              <a:defRPr sz="1200"/>
            </a:pPr>
            <a:r>
              <a:t>• Better than all baseline methods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Innovations of scASDC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300"/>
              </a:spcAft>
              <a:defRPr b="1" sz="1400">
                <a:solidFill>
                  <a:srgbClr val="0070C0"/>
                </a:solidFill>
              </a:defRPr>
            </a:pPr>
            <a:r>
              <a:t>1. Dual-Module Architecture</a:t>
            </a:r>
          </a:p>
          <a:p>
            <a:pPr>
              <a:spcAft>
                <a:spcPts val="800"/>
              </a:spcAft>
              <a:defRPr sz="1200"/>
            </a:pPr>
            <a:r>
              <a:t>Combines ZINB autoencoder (content) + GCN (structure)</a:t>
            </a:r>
          </a:p>
          <a:p>
            <a:pPr>
              <a:spcAft>
                <a:spcPts val="300"/>
              </a:spcAft>
              <a:defRPr b="1" sz="1400">
                <a:solidFill>
                  <a:srgbClr val="0070C0"/>
                </a:solidFill>
              </a:defRPr>
            </a:pPr>
            <a:r>
              <a:t>2. Layer-by-Layer Attention Fusion</a:t>
            </a:r>
          </a:p>
          <a:p>
            <a:pPr>
              <a:spcAft>
                <a:spcPts val="800"/>
              </a:spcAft>
              <a:defRPr sz="1200"/>
            </a:pPr>
            <a:r>
              <a:t>Multi-head attention at each layer, not simple concatenation</a:t>
            </a:r>
          </a:p>
          <a:p>
            <a:pPr>
              <a:spcAft>
                <a:spcPts val="300"/>
              </a:spcAft>
              <a:defRPr b="1" sz="1400">
                <a:solidFill>
                  <a:srgbClr val="0070C0"/>
                </a:solidFill>
              </a:defRPr>
            </a:pPr>
            <a:r>
              <a:t>3. Dual Self-Supervised Learning</a:t>
            </a:r>
          </a:p>
          <a:p>
            <a:pPr>
              <a:spcAft>
                <a:spcPts val="800"/>
              </a:spcAft>
              <a:defRPr sz="1200"/>
            </a:pPr>
            <a:r>
              <a:t>Applies clustering loss to both ZINB and GCN outputs</a:t>
            </a:r>
          </a:p>
          <a:p>
            <a:pPr>
              <a:spcAft>
                <a:spcPts val="300"/>
              </a:spcAft>
              <a:defRPr b="1" sz="1400">
                <a:solidFill>
                  <a:srgbClr val="0070C0"/>
                </a:solidFill>
              </a:defRPr>
            </a:pPr>
            <a:r>
              <a:t>4. ZINB Distribution Modeling</a:t>
            </a:r>
          </a:p>
          <a:p>
            <a:pPr>
              <a:spcAft>
                <a:spcPts val="800"/>
              </a:spcAft>
              <a:defRPr sz="1200"/>
            </a:pPr>
            <a:r>
              <a:t>Explicitly handles zero-inflation and overdispersion</a:t>
            </a:r>
          </a:p>
          <a:p>
            <a:pPr>
              <a:spcAft>
                <a:spcPts val="300"/>
              </a:spcAft>
              <a:defRPr b="1" sz="1400">
                <a:solidFill>
                  <a:srgbClr val="0070C0"/>
                </a:solidFill>
              </a:defRPr>
            </a:pPr>
            <a:r>
              <a:t>5. Oversmoothing Mitigation</a:t>
            </a:r>
          </a:p>
          <a:p>
            <a:pPr>
              <a:spcAft>
                <a:spcPts val="800"/>
              </a:spcAft>
              <a:defRPr sz="1200"/>
            </a:pPr>
            <a:r>
              <a:t>Attention fusion prevents GCN feature loss</a:t>
            </a:r>
          </a:p>
          <a:p>
            <a:pPr>
              <a:spcAft>
                <a:spcPts val="300"/>
              </a:spcAft>
              <a:defRPr b="1" sz="1400">
                <a:solidFill>
                  <a:srgbClr val="0070C0"/>
                </a:solidFill>
              </a:defRPr>
            </a:pPr>
            <a:r>
              <a:t>6. End-to-End Training</a:t>
            </a:r>
          </a:p>
          <a:p>
            <a:pPr>
              <a:spcAft>
                <a:spcPts val="800"/>
              </a:spcAft>
              <a:defRPr sz="1200"/>
            </a:pPr>
            <a:r>
              <a:t>Unified framework for representation + clustering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500"/>
              </a:spcAft>
              <a:defRPr b="1" sz="1600">
                <a:solidFill>
                  <a:srgbClr val="0070C0"/>
                </a:solidFill>
              </a:defRPr>
            </a:pPr>
            <a:r>
              <a:t>scASDC: A Comprehensive Solution for scRNA-seq Clustering</a:t>
            </a:r>
          </a:p>
          <a:p>
            <a:pPr>
              <a:spcAft>
                <a:spcPts val="800"/>
              </a:spcAft>
              <a:defRPr sz="1400"/>
            </a:pPr>
            <a:r>
              <a:t>✓ Four integrated modules: ZINB + GCN + Attention + Self-supervised</a:t>
            </a:r>
          </a:p>
          <a:p>
            <a:pPr>
              <a:spcAft>
                <a:spcPts val="800"/>
              </a:spcAft>
              <a:defRPr sz="1400"/>
            </a:pPr>
            <a:r>
              <a:t>✓ Five complementary loss functions working together</a:t>
            </a:r>
          </a:p>
          <a:p>
            <a:pPr>
              <a:spcAft>
                <a:spcPts val="800"/>
              </a:spcAft>
              <a:defRPr sz="1400"/>
            </a:pPr>
            <a:r>
              <a:t>✓ Layer-wise attention fusion for intelligent integration</a:t>
            </a:r>
          </a:p>
          <a:p>
            <a:pPr>
              <a:spcAft>
                <a:spcPts val="800"/>
              </a:spcAft>
              <a:defRPr sz="1400"/>
            </a:pPr>
            <a:r>
              <a:t>✓ Handles scRNA-seq challenges: sparsity, zero-inflation, noise</a:t>
            </a:r>
          </a:p>
          <a:p>
            <a:pPr>
              <a:spcAft>
                <a:spcPts val="800"/>
              </a:spcAft>
              <a:defRPr sz="1400"/>
            </a:pPr>
            <a:r>
              <a:t>✓ Superior performance: Best on all 6 datasets</a:t>
            </a:r>
          </a:p>
          <a:p>
            <a:pPr>
              <a:spcAft>
                <a:spcPts val="800"/>
              </a:spcAft>
              <a:defRPr sz="1400"/>
            </a:pPr>
            <a:r>
              <a:t>✓ Biologically validated: Meaningful clusters and pathways</a:t>
            </a:r>
          </a:p>
          <a:p>
            <a:pPr>
              <a:spcAft>
                <a:spcPts val="800"/>
              </a:spcAft>
              <a:defRPr sz="1400"/>
            </a:pPr>
            <a:r>
              <a:t>✓ Robust and generalizable across platforms</a:t>
            </a:r>
          </a:p>
          <a:p>
            <a:pPr>
              <a:spcAft>
                <a:spcPts val="800"/>
              </a:spcAft>
              <a:defRPr sz="1400"/>
            </a:pPr>
            <a:r>
              <a:t>✓ Interpretable through attention weights and gene analysis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500"/>
              </a:spcAft>
              <a:defRPr b="1" sz="1800">
                <a:solidFill>
                  <a:srgbClr val="0070C0"/>
                </a:solidFill>
              </a:defRPr>
            </a:pPr>
            <a:r>
              <a:t>Key Takeaways:</a:t>
            </a:r>
          </a:p>
          <a:p>
            <a:pPr>
              <a:spcAft>
                <a:spcPts val="1000"/>
              </a:spcAft>
              <a:defRPr sz="1400"/>
            </a:pPr>
            <a:r>
              <a:t>1. scASDC advances single-cell clustering through intelligent fusion of content and structural information</a:t>
            </a:r>
          </a:p>
          <a:p>
            <a:pPr>
              <a:spcAft>
                <a:spcPts val="1000"/>
              </a:spcAft>
              <a:defRPr sz="1400"/>
            </a:pPr>
            <a:r>
              <a:t>2. Multi-head attention mechanism is crucial for effective integration</a:t>
            </a:r>
          </a:p>
          <a:p>
            <a:pPr>
              <a:spcAft>
                <a:spcPts val="1000"/>
              </a:spcAft>
              <a:defRPr sz="1400"/>
            </a:pPr>
            <a:r>
              <a:t>3. All components (ZINB, GCN, Attention, Self-supervision) are necessary for optimal performance</a:t>
            </a:r>
          </a:p>
          <a:p>
            <a:pPr>
              <a:spcAft>
                <a:spcPts val="2000"/>
              </a:spcAft>
              <a:defRPr sz="1400"/>
            </a:pPr>
            <a:r>
              <a:t>4. Empirically validated across diverse datasets and biologically interpretable</a:t>
            </a:r>
          </a:p>
          <a:p>
            <a:pPr>
              <a:defRPr sz="1300" i="1">
                <a:solidFill>
                  <a:srgbClr val="646464"/>
                </a:solidFill>
              </a:defRPr>
            </a:pPr>
            <a:r>
              <a:t>Future Work: Batch correction, spatial transcriptomics, trajectory inference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